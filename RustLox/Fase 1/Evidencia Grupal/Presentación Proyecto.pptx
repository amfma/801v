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8b0bb0d35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8b0bb0d35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b0bb0d35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8b0bb0d35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b0bb0d35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8b0bb0d35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b0bb0d35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8b0bb0d35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8b0bb0d35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f8b0bb0d35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f8b0bb0d35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f8b0bb0d35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8b0bb0d35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8b0bb0d35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b0bb0d35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8b0bb0d35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8b0bb0d35_0_1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f8b0bb0d35_0_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8b0bb0d35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f8b0bb0d35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8b0bb0d3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f8b0bb0d3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Implementación en Rust de un </a:t>
            </a:r>
            <a:r>
              <a:rPr lang="en"/>
              <a:t>intérprete</a:t>
            </a:r>
            <a:r>
              <a:rPr lang="en"/>
              <a:t> de Lox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Proyecto Capstone 2026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3141450" y="3626725"/>
            <a:ext cx="2861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</a:rPr>
              <a:t>Andrés </a:t>
            </a:r>
            <a:r>
              <a:rPr lang="en" sz="1800">
                <a:solidFill>
                  <a:schemeClr val="lt2"/>
                </a:solidFill>
              </a:rPr>
              <a:t>Mpodozis Frigerio.</a:t>
            </a:r>
            <a:endParaRPr sz="1800">
              <a:solidFill>
                <a:schemeClr val="lt2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2129250" y="4056625"/>
            <a:ext cx="48855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Duoc UC.</a:t>
            </a:r>
            <a:br>
              <a:rPr lang="en">
                <a:solidFill>
                  <a:schemeClr val="lt2"/>
                </a:solidFill>
              </a:rPr>
            </a:br>
            <a:r>
              <a:rPr lang="en">
                <a:solidFill>
                  <a:schemeClr val="lt2"/>
                </a:solidFill>
              </a:rPr>
              <a:t>Escuela de </a:t>
            </a:r>
            <a:r>
              <a:rPr lang="en">
                <a:solidFill>
                  <a:schemeClr val="lt2"/>
                </a:solidFill>
              </a:rPr>
              <a:t>Informática</a:t>
            </a:r>
            <a:r>
              <a:rPr lang="en">
                <a:solidFill>
                  <a:schemeClr val="lt2"/>
                </a:solidFill>
              </a:rPr>
              <a:t> y Telecomunicaciones</a:t>
            </a:r>
            <a:endParaRPr>
              <a:solidFill>
                <a:schemeClr val="lt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Ingenieria en Informatica.</a:t>
            </a:r>
            <a:endParaRPr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Indice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Portada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Indice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Introducción.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Contexto.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Problematica.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Solución.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Metodologia.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Tecnologias.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Competencias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Riesgos.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Modelo de Negocios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Conclusion.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Introducción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700"/>
              <a:t>En el presente se propone como proyecto de capstone el implementar un intérprete de recorrido-de-árbol (tree walk) para el lenguaje de programación Lox, desarrollado en el lenguaje de programación Rust.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Contexto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El diseño e implementación de lenguajes de programación (LdP) es una de las disciplinas </a:t>
            </a:r>
            <a:r>
              <a:rPr lang="en" sz="1700"/>
              <a:t>esenciales</a:t>
            </a:r>
            <a:r>
              <a:rPr lang="en" sz="1700"/>
              <a:t> en la </a:t>
            </a:r>
            <a:r>
              <a:rPr lang="en" sz="1700"/>
              <a:t>informática. Su importancia varía según la época y las modas, pero el problema esencial de “Cómo logramos comunicarnos con los computadores” y “Cómo podemos transformar un modo de comunicación a otro” son universales.</a:t>
            </a:r>
            <a:endParaRPr sz="1700"/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700"/>
              <a:t>Robert Nystrom diseño Lox como una manera de auto-enseñarse Teoria de Intérpretes y, a partir de ahi, este ha adquirido una pequeña pero dedicada comunidad interesada en crear nuevas implementaciones y extender sus usos.</a:t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Problematica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 forma canonica de Lox, llamada jlox, se encuentra implementada en Java, utilizando la </a:t>
            </a:r>
            <a:r>
              <a:rPr lang="en"/>
              <a:t>Máquina</a:t>
            </a:r>
            <a:r>
              <a:rPr lang="en"/>
              <a:t> Virtual de Java (JVM) para realizar la evaluación y ejecución final. Esto da un nivel de abstracción extra a un sistema que por si mismo no esta optimizado para velocidad, empeorandolo aun más.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en"/>
            </a:br>
            <a:r>
              <a:rPr lang="en"/>
              <a:t>De igual modo, el utilizar la JVM para tareas como manejo de memoria y recolección de basura, aunque practico, disminuye la velocidad en programas complejos o largos.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Solución - Implementación en Rust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Rust, como lenguaje de programación, posee varias </a:t>
            </a:r>
            <a:r>
              <a:rPr lang="en"/>
              <a:t>características</a:t>
            </a:r>
            <a:r>
              <a:rPr lang="en"/>
              <a:t> que lo hacen ideal para implementar </a:t>
            </a:r>
            <a:r>
              <a:rPr lang="en"/>
              <a:t>intérpretes</a:t>
            </a:r>
            <a:r>
              <a:rPr lang="en"/>
              <a:t> y mejorar de manera sencilla el desempeño.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Compila directamente a ejecutables, sin requerir un intermediario como la JVM para hacer la evaluación y ejecución, reduciendo los intermediarios.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Hace uso de </a:t>
            </a:r>
            <a:r>
              <a:rPr lang="en"/>
              <a:t>múltiples</a:t>
            </a:r>
            <a:r>
              <a:rPr lang="en"/>
              <a:t> chequeos de ciclos de vida, punteros y referencias al momento de compilación para asegurar seguridad y eficiencia de memoria sin hacer uso de un recolector de basura, haciendo más eficiente la ejecución de los programas.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Metodología</a:t>
            </a:r>
            <a:r>
              <a:rPr lang="en"/>
              <a:t> - Unipersonal y Ad-hoc.</a:t>
            </a:r>
            <a:endParaRPr/>
          </a:p>
        </p:txBody>
      </p:sp>
      <p:sp>
        <p:nvSpPr>
          <p:cNvPr id="93" name="Google Shape;93;p19"/>
          <p:cNvSpPr txBox="1"/>
          <p:nvPr>
            <p:ph idx="1" type="body"/>
          </p:nvPr>
        </p:nvSpPr>
        <p:spPr>
          <a:xfrm>
            <a:off x="311700" y="1152475"/>
            <a:ext cx="8520600" cy="106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Al ser un proyecto unipersonal, es imposible utilizar directamente ninguna </a:t>
            </a:r>
            <a:r>
              <a:rPr lang="en"/>
              <a:t>metodología</a:t>
            </a:r>
            <a:r>
              <a:rPr lang="en"/>
              <a:t>. Se </a:t>
            </a:r>
            <a:r>
              <a:rPr lang="en"/>
              <a:t>utilizarán</a:t>
            </a:r>
            <a:r>
              <a:rPr lang="en"/>
              <a:t> elementos de </a:t>
            </a:r>
            <a:r>
              <a:rPr lang="en"/>
              <a:t>metodología</a:t>
            </a:r>
            <a:r>
              <a:rPr lang="en"/>
              <a:t> lean, agile  y desarrollo por pruebas (TDD) como mecanismo de organización.</a:t>
            </a:r>
            <a:endParaRPr/>
          </a:p>
        </p:txBody>
      </p:sp>
      <p:sp>
        <p:nvSpPr>
          <p:cNvPr id="94" name="Google Shape;94;p19"/>
          <p:cNvSpPr txBox="1"/>
          <p:nvPr/>
        </p:nvSpPr>
        <p:spPr>
          <a:xfrm>
            <a:off x="359550" y="2219875"/>
            <a:ext cx="2767200" cy="25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</a:rPr>
              <a:t>Lean</a:t>
            </a:r>
            <a:endParaRPr sz="2000"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Se </a:t>
            </a:r>
            <a:r>
              <a:rPr lang="en" sz="1600">
                <a:solidFill>
                  <a:schemeClr val="lt2"/>
                </a:solidFill>
              </a:rPr>
              <a:t>buscará</a:t>
            </a:r>
            <a:r>
              <a:rPr lang="en" sz="1600">
                <a:solidFill>
                  <a:schemeClr val="lt2"/>
                </a:solidFill>
              </a:rPr>
              <a:t> minimizar el ‘gasto’, es decir, periodos de tiempo no productivos. Por ejemplo, se utilizara cargo (herramienta nativa del toolchain de Rust) para manejo de documentación y pruebas.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3188400" y="2219875"/>
            <a:ext cx="2767200" cy="25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</a:rPr>
              <a:t>Agile</a:t>
            </a:r>
            <a:endParaRPr sz="2000">
              <a:solidFill>
                <a:schemeClr val="lt2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El desarrollo sera divido en unidades de tiempo de 2 semanas, con generación de entregables al finalizar estos, si corresponde.</a:t>
            </a:r>
            <a:endParaRPr sz="1600">
              <a:solidFill>
                <a:schemeClr val="lt2"/>
              </a:solidFill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6170500" y="2354625"/>
            <a:ext cx="2767200" cy="25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2"/>
                </a:solidFill>
              </a:rPr>
              <a:t>TDD</a:t>
            </a:r>
            <a:endParaRPr sz="2000">
              <a:solidFill>
                <a:schemeClr val="lt2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2"/>
                </a:solidFill>
              </a:rPr>
              <a:t>Se </a:t>
            </a:r>
            <a:r>
              <a:rPr lang="en" sz="1600">
                <a:solidFill>
                  <a:schemeClr val="lt2"/>
                </a:solidFill>
              </a:rPr>
              <a:t>comenzará</a:t>
            </a:r>
            <a:r>
              <a:rPr lang="en" sz="1600">
                <a:solidFill>
                  <a:schemeClr val="lt2"/>
                </a:solidFill>
              </a:rPr>
              <a:t> siempre generando un listado de pruebas que los distintos </a:t>
            </a:r>
            <a:r>
              <a:rPr lang="en" sz="1600">
                <a:solidFill>
                  <a:schemeClr val="lt2"/>
                </a:solidFill>
              </a:rPr>
              <a:t>módulos</a:t>
            </a:r>
            <a:r>
              <a:rPr lang="en" sz="1600">
                <a:solidFill>
                  <a:schemeClr val="lt2"/>
                </a:solidFill>
              </a:rPr>
              <a:t> deben pasar. Se </a:t>
            </a:r>
            <a:r>
              <a:rPr lang="en" sz="1600">
                <a:solidFill>
                  <a:schemeClr val="lt2"/>
                </a:solidFill>
              </a:rPr>
              <a:t>seguirá</a:t>
            </a:r>
            <a:r>
              <a:rPr lang="en" sz="1600">
                <a:solidFill>
                  <a:schemeClr val="lt2"/>
                </a:solidFill>
              </a:rPr>
              <a:t> la </a:t>
            </a:r>
            <a:r>
              <a:rPr lang="en" sz="1600">
                <a:solidFill>
                  <a:schemeClr val="lt2"/>
                </a:solidFill>
              </a:rPr>
              <a:t>lógica</a:t>
            </a:r>
            <a:r>
              <a:rPr lang="en" sz="1600">
                <a:solidFill>
                  <a:schemeClr val="lt2"/>
                </a:solidFill>
              </a:rPr>
              <a:t> de luz roja-luz verde- refactorizar como </a:t>
            </a:r>
            <a:r>
              <a:rPr lang="en" sz="1600">
                <a:solidFill>
                  <a:schemeClr val="lt2"/>
                </a:solidFill>
              </a:rPr>
              <a:t>guía</a:t>
            </a:r>
            <a:r>
              <a:rPr lang="en" sz="1600">
                <a:solidFill>
                  <a:schemeClr val="lt2"/>
                </a:solidFill>
              </a:rPr>
              <a:t> de desarrollo.</a:t>
            </a:r>
            <a:endParaRPr sz="1600">
              <a:solidFill>
                <a:schemeClr val="lt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Mapa Tecnologico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Manejo de Versiones - Github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Paquetes, documentación y pruebas - Cargo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Lenguaje de Desarrollo - Rust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IDE - VSCode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Linter - Clippy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Competencias.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Implementación de lenguajes de programación.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Uso de tecnologias de vanguardia.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Creación y desarrollo de parsers.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Teoria de Interpretes.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Desarrollo por Pruebas.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Desarrollo unipersonal de software.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Benchmarking.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Arquitectura y Diseño de software.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Riesgos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Los dos principale riesgos son: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Herramientas no apropiadas. Esto ocurre en caso de que sea imposible mover un feat de la </a:t>
            </a:r>
            <a:r>
              <a:rPr lang="en"/>
              <a:t>implementación</a:t>
            </a:r>
            <a:r>
              <a:rPr lang="en"/>
              <a:t> en Java a Rust. Esto se minimiza con correcta investigación de las herramientas.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Ineficiencias. Aun si a nivel </a:t>
            </a:r>
            <a:r>
              <a:rPr lang="en"/>
              <a:t>teórico</a:t>
            </a:r>
            <a:r>
              <a:rPr lang="en"/>
              <a:t>, por simple arquitectura, el producto resultante </a:t>
            </a:r>
            <a:r>
              <a:rPr lang="en"/>
              <a:t>debería</a:t>
            </a:r>
            <a:r>
              <a:rPr lang="en"/>
              <a:t> tener mejor rendimiento que la implementación nativa, esto no es seguro. Hacer profiling constante para evitar esto durante el desarrollo es necesario para evitarlo.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Negocios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Las </a:t>
            </a:r>
            <a:r>
              <a:rPr lang="en"/>
              <a:t>prácticas</a:t>
            </a:r>
            <a:r>
              <a:rPr lang="en"/>
              <a:t> en las comunidades de lenguajes de programación nicho muestran que la principal forma de mantener el proyecto en el tiempo es, una vez el lenguaje es implementado en </a:t>
            </a:r>
            <a:r>
              <a:rPr lang="en"/>
              <a:t>algún</a:t>
            </a:r>
            <a:r>
              <a:rPr lang="en"/>
              <a:t> ambiente, el solicitar una cantidad de ‘horas-desarrollador’ por parte las organizaciones que lo implementan, sea en personas o dinero, con el fin de realizar mantención, optimización y desarrollo posterior.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Conclusión.</a:t>
            </a:r>
            <a:endParaRPr/>
          </a:p>
        </p:txBody>
      </p:sp>
      <p:sp>
        <p:nvSpPr>
          <p:cNvPr id="126" name="Google Shape;126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En consideración de lo anterior, se considera viable y adecuado como proyecto de Capstone el implementar un </a:t>
            </a:r>
            <a:r>
              <a:rPr lang="en"/>
              <a:t>intérprete</a:t>
            </a:r>
            <a:r>
              <a:rPr lang="en"/>
              <a:t> de Lox, desarrollandolo en Rust.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